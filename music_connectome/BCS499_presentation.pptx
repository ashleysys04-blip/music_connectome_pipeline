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457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BCS499  ·  Brain &amp; Cognitive Sciences  ·  Final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music's sensitive period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a trace in episodic memory's white matter?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서예슬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20230340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HCP-D structural connectome  ·  Picture Sequence Memory  ·  n = 448 (trained-only n ≈ 183)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May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QUESTION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64008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early music shape the brain — or did better brains start music early?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long-standing debate. Children with early music training often score higher on cognitive tasks than untrained peers — but early starters also receive more total training, and may come from families with more resources, motivation, or pre-existing aptitude. Three explanations compete: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58368" y="2377440"/>
            <a:ext cx="267004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377440"/>
            <a:ext cx="64008" cy="21031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487168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7066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Sensitive period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1272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is WHEN you start.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538728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exposure (≲7 yr) sculpts white matter during a developmental window.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paper: Steele et al. 2013 (J Neurosci).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2424" y="2377440"/>
            <a:ext cx="267004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2424" y="2377440"/>
            <a:ext cx="64008" cy="210312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4" name="Text 12"/>
          <p:cNvSpPr/>
          <p:nvPr/>
        </p:nvSpPr>
        <p:spPr>
          <a:xfrm>
            <a:off x="3557016" y="2487168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H1b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57016" y="27066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Dose-response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57016" y="31272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is HOW MUCH you trained.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57016" y="3538728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Apparent onset effects are just hours-in-disguise — early starters accumulate more practice.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paper: Schellenberg 2020.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377440"/>
            <a:ext cx="2670048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2377440"/>
            <a:ext cx="64008" cy="21031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2487168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91072" y="27066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Skeptical view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291072" y="312724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matters once you control properly.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1072" y="3538728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Music–cognition links reduce to SES, family, and motivation.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paper: Sala &amp; Gobet 2017.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4582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MOTIVATION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64008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episodic memory, and why HCP-D?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episodic memory (PSM)?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783080"/>
            <a:ext cx="40233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learning  </a:t>
            </a:r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inherently sequential and temporal — practicing requires binding tones, fingerings, and context across time.</a:t>
            </a:r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Sequence Memory (NIH Toolbox)</a:t>
            </a: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probes exactly this: ordering pictured events into a remembered sequence.</a:t>
            </a:r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endParaRPr lang="en-US" sz="12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is too broad to measure in this project; PSM is concrete, well-validated in HCP-D, and theoretically linked to music.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4023360" cy="3200400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dataset?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HCP-D structural connectomes 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(246×246, DSI Studio QSDR) provide the white matter substrate.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 SAIQ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self-reported music history — years of training, weeks/year, days/week, minutes/session — enough to estimate both onset age and cumulative hours.</a:t>
            </a:r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 9–22 yr sits inside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2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lifespan turning-points framework (Mousley et al. 2025, Nat Commun).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582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HYPOTHESIS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64008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scenarios, each pinned to a specific coefficient pattern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58368" y="14173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split the chicken-and-egg debate using the partial regression coefficients of M3:  PSM ~ β₁·onset + β₂·log(hours) + covariates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7955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874520"/>
            <a:ext cx="64008" cy="6858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4767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Sensitive period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97480" y="194767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|β(onset)|  &gt;  |β(hours)|,  both negative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194767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matters even after hours is controlled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8368" y="2651760"/>
            <a:ext cx="7955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651760"/>
            <a:ext cx="64008" cy="68580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72491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Dose-response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97480" y="272491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|β(hours)|  &gt;  |β(onset)|,  hours negative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89320" y="272491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matters; onset was just a proxy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429000"/>
            <a:ext cx="795528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3429000"/>
            <a:ext cx="64008" cy="6858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5021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Skeptical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97480" y="350215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β ≈ 0,  no signal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89320" y="350215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variable carries information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4389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prediction: |β(onset)| &gt; |β(hours)| in M3.  We let the data decide which scenario wins.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582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METHODS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64008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Pipeline: from connectomes to scenario verdicts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52156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08760"/>
            <a:ext cx="152156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72768"/>
            <a:ext cx="1430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205740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" y="2880360"/>
            <a:ext cx="13752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HCP-D demographics × SAIQ music history × PSM behavior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 = 473 with PSM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74774" y="2697480"/>
            <a:ext cx="10058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179930" y="1508760"/>
            <a:ext cx="152156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79930" y="1508760"/>
            <a:ext cx="1521562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2225650" y="1572768"/>
            <a:ext cx="1430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53082" y="205740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Connectome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53082" y="2880360"/>
            <a:ext cx="13752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QSDR 246×246 SC matrices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 = 448 pass QC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706063" y="2697480"/>
            <a:ext cx="10058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811219" y="1508760"/>
            <a:ext cx="152156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11219" y="1508760"/>
            <a:ext cx="1521562" cy="45720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9" name="Text 17"/>
          <p:cNvSpPr/>
          <p:nvPr/>
        </p:nvSpPr>
        <p:spPr>
          <a:xfrm>
            <a:off x="3856939" y="1572768"/>
            <a:ext cx="1430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84371" y="205740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884371" y="2880360"/>
            <a:ext cx="13752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features: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eff, mod, small-world, char path,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DMN / FPN / MTL within &amp; between (bctpy)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37353" y="2697480"/>
            <a:ext cx="10058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42509" y="1508760"/>
            <a:ext cx="152156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42509" y="1508760"/>
            <a:ext cx="1521562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8229" y="1572768"/>
            <a:ext cx="1430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4-5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15661" y="205740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Confirmatory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GLMs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515661" y="2880360"/>
            <a:ext cx="13752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→ PSM (Step 4)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M1–M4 Music → PSM (Step 5)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68642" y="2697480"/>
            <a:ext cx="100584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073798" y="1508760"/>
            <a:ext cx="152156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73798" y="1508760"/>
            <a:ext cx="1521562" cy="4572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1" name="Text 29"/>
          <p:cNvSpPr/>
          <p:nvPr/>
        </p:nvSpPr>
        <p:spPr>
          <a:xfrm>
            <a:off x="7119518" y="1572768"/>
            <a:ext cx="14301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6-7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146950" y="2057400"/>
            <a:ext cx="137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 &amp;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mediation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146950" y="2880360"/>
            <a:ext cx="13752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→ Brain (Step 6)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→ Brain → PSM bootstrap mediation (Step 7)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Covariates throughout: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sex, log family income, race.  </a:t>
            </a:r>
            <a:pPr algn="ctr" indent="0" marL="0">
              <a:buNone/>
            </a:pPr>
            <a:r>
              <a:rPr lang="en-US" sz="11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trained-only n ≈ 183.  </a:t>
            </a:r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FDR-BH multiple-comparison correction within each step.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582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SAMPLE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64008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Who's in the data — and what we honestly can and can't test</a:t>
            </a:r>
            <a:endParaRPr lang="en-US" sz="2200" dirty="0"/>
          </a:p>
        </p:txBody>
      </p:sp>
      <p:pic>
        <p:nvPicPr>
          <p:cNvPr id="5" name="Image 0" descr="/home/claude/work/figures/fig1_onse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371600"/>
            <a:ext cx="4572000" cy="30449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44348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  Music onset age in trained subsample (n = 201).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486400" y="1371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Sample at a glance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0" y="1691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473 with PSM 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448 with usable SC (QC)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 ever trained  ·  201 with complete music vars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0" y="2651760"/>
            <a:ext cx="3200400" cy="1783080"/>
          </a:xfrm>
          <a:prstGeom prst="rect">
            <a:avLst/>
          </a:prstGeom>
          <a:solidFill>
            <a:srgbClr val="FDECE6"/>
          </a:solidFill>
          <a:ln/>
        </p:spPr>
      </p:sp>
      <p:sp>
        <p:nvSpPr>
          <p:cNvPr id="10" name="Shape 7"/>
          <p:cNvSpPr/>
          <p:nvPr/>
        </p:nvSpPr>
        <p:spPr>
          <a:xfrm>
            <a:off x="5486400" y="2651760"/>
            <a:ext cx="64008" cy="17830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8"/>
          <p:cNvSpPr/>
          <p:nvPr/>
        </p:nvSpPr>
        <p:spPr>
          <a:xfrm>
            <a:off x="5623560" y="26974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caveat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23560" y="30175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concentrates at 8–11 yr.  Only ~40 participants (≈20%) started before age 7.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We are testing 'relatively earlier vs later onset', not the classical pre-7 sensitive period.  Interpret accordingly.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4582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RESULT A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64008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headline result: onset's effect grows when hours is added</a:t>
            </a:r>
            <a:endParaRPr lang="en-US" sz="2200" dirty="0"/>
          </a:p>
        </p:txBody>
      </p:sp>
      <p:pic>
        <p:nvPicPr>
          <p:cNvPr id="5" name="Image 0" descr="/home/claude/work/figures/fig5_suppres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512064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443984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5.  Suppressor pattern across M1, M2, M3.  Error bars = ± 1 SE.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5806440" y="13258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numbers say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β(onset) in M3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806440" y="1965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−0.207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80644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0.073   (M1 alone: −0.092)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06440" y="2788920"/>
            <a:ext cx="292608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06440" y="2880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β(hours) in M3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06440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7A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−0.158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806440" y="3566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0.129   |β| smaller than onset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806440" y="4023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β(onset × hours) = +0.030,  p = 0.74  →  no interaction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4582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INTERPRETATION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64008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pattern matters — and what it does and doesn't say</a:t>
            </a:r>
            <a:endParaRPr lang="en-US" sz="2200" dirty="0"/>
          </a:p>
        </p:txBody>
      </p:sp>
      <p:pic>
        <p:nvPicPr>
          <p:cNvPr id="5" name="Image 0" descr="/home/claude/work/figures/fig2_psm_by_gro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20624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1330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  Raw PSM by onset group — note: 'late' is slightly higher.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983480" y="1325880"/>
            <a:ext cx="3794760" cy="3200400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suppressor reading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0" y="178308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box plots are misleading. 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Late-onset participants are also older and have completed more development — their PSM looks marginally higher in the raw plot.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hours is held constant in M3, onset's true partial effect emerges: 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|β| more than doubles (−0.09 → −0.21) and flips toward the sensitive-period direction.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textbook justification for our pre-registered choice to make M3 the primary model — and our direct answer to Schellenberg (2020).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582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RESULT B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64008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Brain side of the question: macroscale topology is mostly silent</a:t>
            </a:r>
            <a:endParaRPr lang="en-US" sz="2200" dirty="0"/>
          </a:p>
        </p:txBody>
      </p:sp>
      <p:pic>
        <p:nvPicPr>
          <p:cNvPr id="5" name="Image 0" descr="/home/claude/work/figures/fig3_brain_behav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25880"/>
            <a:ext cx="3383280" cy="2468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813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3.  Brain → PSM (n = 306).</a:t>
            </a:r>
            <a:endParaRPr lang="en-US" sz="900" dirty="0"/>
          </a:p>
        </p:txBody>
      </p:sp>
      <p:pic>
        <p:nvPicPr>
          <p:cNvPr id="7" name="Image 1" descr="/home/claude/work/figures/fig4_medi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325880"/>
            <a:ext cx="3383280" cy="2468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3813048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  Onset → Brain → PSM mediation (n = 175).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886200" y="1325880"/>
            <a:ext cx="132588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886200" y="1325880"/>
            <a:ext cx="1325880" cy="365760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1" name="Text 7"/>
          <p:cNvSpPr/>
          <p:nvPr/>
        </p:nvSpPr>
        <p:spPr>
          <a:xfrm>
            <a:off x="3886200" y="138074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FDR-NS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977640" y="1783080"/>
            <a:ext cx="1143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→ PSM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small-world β = +.13, raw p = .02; FDR n.s.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→ Brain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tests, all FDR n.s.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mediators, all CIs include 0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65760" y="4069080"/>
            <a:ext cx="8366760" cy="594360"/>
          </a:xfrm>
          <a:prstGeom prst="rect">
            <a:avLst/>
          </a:prstGeom>
          <a:solidFill>
            <a:srgbClr val="FDECE6"/>
          </a:solidFill>
          <a:ln/>
        </p:spPr>
      </p:sp>
      <p:sp>
        <p:nvSpPr>
          <p:cNvPr id="14" name="Shape 10"/>
          <p:cNvSpPr/>
          <p:nvPr/>
        </p:nvSpPr>
        <p:spPr>
          <a:xfrm>
            <a:off x="365760" y="4069080"/>
            <a:ext cx="64008" cy="5943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5" name="Text 11"/>
          <p:cNvSpPr/>
          <p:nvPr/>
        </p:nvSpPr>
        <p:spPr>
          <a:xfrm>
            <a:off x="502920" y="4105656"/>
            <a:ext cx="8183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onset → PSM signal (Slide 7) is real, it does NOT travel through our 11 macroscale white-matter features.  small-world is the only non-zero hint, consistent with Mousley et al. Epoch 2.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84582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VERDICT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64008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scenario fits best? (subject to caveats)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1381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73152" cy="841248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Sensitive period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0" y="1508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supported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0" y="150876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and relative |β| match. But p = 0.073, no mediation found — so the trace is NOT in macroscale topology.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81381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77440"/>
            <a:ext cx="73152" cy="841248"/>
          </a:xfrm>
          <a:prstGeom prst="rect">
            <a:avLst/>
          </a:prstGeom>
          <a:solidFill>
            <a:srgbClr val="2C7A7B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468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Dose-response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C7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Weakly disfavored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onset is controlled, hours has smaller |β|. No interaction (β = 0.03, p = 0.74) — sensitive period doesn't activate only with high training.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813816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337560"/>
            <a:ext cx="73152" cy="84124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4290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Skeptical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743200" y="3429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fully rejected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42900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survives FDR.  n = 183 limits power.  An honest report has to leave this scenario partly on the table.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43891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lean toward sensitive period — but the route, if it exists, isn't through macroscale white matter.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LIMITATIONS &amp; NEXT STEPS</a:t>
            </a:r>
            <a:endParaRPr lang="en-US" sz="950" dirty="0"/>
          </a:p>
        </p:txBody>
      </p:sp>
      <p:sp>
        <p:nvSpPr>
          <p:cNvPr id="3" name="Shape 1"/>
          <p:cNvSpPr/>
          <p:nvPr/>
        </p:nvSpPr>
        <p:spPr>
          <a:xfrm>
            <a:off x="457200" y="502920"/>
            <a:ext cx="64008" cy="77724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cannot say, and where we'd look next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77640" cy="3108960"/>
          </a:xfrm>
          <a:prstGeom prst="rect">
            <a:avLst/>
          </a:prstGeom>
          <a:solidFill>
            <a:srgbClr val="E8EDF3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463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Power.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Trained-only n = 183.  M3 p = 0.07 lies in the gap where neither 'reject' nor 'accept' is justified.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 coverage.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pre-7 starters — we cannot directly test the classical sensitive period window (Steele 2013).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Self-report.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history is retrospective parental/self report; cumulative hours estimated from coarse units.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Cross-sectional.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direction (training → brain vs brain → training) cannot be separated here.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77640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371600"/>
            <a:ext cx="73152" cy="310896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4873752" y="146304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trace might actually live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73752" y="1874520"/>
            <a:ext cx="3703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Microstructure, not topology.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Tract-specific FA / RD in corpus callosum, arcuate fasciculus — where Steele (2013) found the original effect.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 matter &amp; function.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Hippocampal volume, MTL–PFC functional connectivity — closer to the substrate of sequence memory.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samples.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Conservatory or oversampled-early-onset cohorts to populate the pre-7 region.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data, finer lens. 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Edge-level or nodal graph metrics within Yeo networks, instead of network-level averages.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5820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36592"/>
            <a:ext cx="9144000" cy="457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TAKE-HOME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Music's onset age leaves a fingerprint in episodic memory —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probably not in macroscale white-matter topology.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2788920"/>
            <a:ext cx="2606040" cy="1417320"/>
          </a:xfrm>
          <a:prstGeom prst="rect">
            <a:avLst/>
          </a:prstGeom>
          <a:solidFill>
            <a:srgbClr val="294C7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|β| ×2.2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onset's coefficient grows in M3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788920"/>
            <a:ext cx="2606040" cy="1417320"/>
          </a:xfrm>
          <a:prstGeom prst="rect">
            <a:avLst/>
          </a:prstGeom>
          <a:solidFill>
            <a:srgbClr val="294C7A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CB3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11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2044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mediators with non-zero indirect effect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2788920"/>
            <a:ext cx="2606040" cy="1417320"/>
          </a:xfrm>
          <a:prstGeom prst="rect">
            <a:avLst/>
          </a:prstGeom>
          <a:solidFill>
            <a:srgbClr val="294C7A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297180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6364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period — best fit, weakly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서예슬  ·  20230340  ·  BCS499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onset and episodic memory — BCS499 final</dc:title>
  <dc:subject>PptxGenJS Presentation</dc:subject>
  <dc:creator>Ashley (Yesul Seo) 20230340</dc:creator>
  <cp:lastModifiedBy>Ashley (Yesul Seo) 20230340</cp:lastModifiedBy>
  <cp:revision>1</cp:revision>
  <dcterms:created xsi:type="dcterms:W3CDTF">2026-05-28T02:29:33Z</dcterms:created>
  <dcterms:modified xsi:type="dcterms:W3CDTF">2026-05-28T02:29:33Z</dcterms:modified>
</cp:coreProperties>
</file>